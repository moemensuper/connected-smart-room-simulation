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-6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Température (°C)</c:v>
                </c:pt>
              </c:strCache>
            </c:strRef>
          </c:tx>
          <c:spPr>
            <a:ln w="38100" cap="flat">
              <a:solidFill>
                <a:srgbClr val="10B98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08:00</c:v>
                </c:pt>
                <c:pt idx="1">
                  <c:v>10:00</c:v>
                </c:pt>
                <c:pt idx="2">
                  <c:v>12:00</c:v>
                </c:pt>
                <c:pt idx="3">
                  <c:v>14:00</c:v>
                </c:pt>
                <c:pt idx="4">
                  <c:v>16:00</c:v>
                </c:pt>
                <c:pt idx="5">
                  <c:v>18:00</c:v>
                </c:pt>
                <c:pt idx="6">
                  <c:v>20:00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21</c:v>
                </c:pt>
                <c:pt idx="1">
                  <c:v>23</c:v>
                </c:pt>
                <c:pt idx="2">
                  <c:v>26</c:v>
                </c:pt>
                <c:pt idx="3">
                  <c:v>29</c:v>
                </c:pt>
                <c:pt idx="4">
                  <c:v>27</c:v>
                </c:pt>
                <c:pt idx="5">
                  <c:v>24</c:v>
                </c:pt>
                <c:pt idx="6">
                  <c:v>22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62A-4879-8854-5686B952617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Humidité (%)</c:v>
                </c:pt>
              </c:strCache>
            </c:strRef>
          </c:tx>
          <c:spPr>
            <a:ln w="38100" cap="flat">
              <a:solidFill>
                <a:srgbClr val="64748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4748B"/>
              </a:solidFill>
              <a:ln w="9525" cap="flat">
                <a:solidFill>
                  <a:srgbClr val="64748B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08:00</c:v>
                </c:pt>
                <c:pt idx="1">
                  <c:v>10:00</c:v>
                </c:pt>
                <c:pt idx="2">
                  <c:v>12:00</c:v>
                </c:pt>
                <c:pt idx="3">
                  <c:v>14:00</c:v>
                </c:pt>
                <c:pt idx="4">
                  <c:v>16:00</c:v>
                </c:pt>
                <c:pt idx="5">
                  <c:v>18:00</c:v>
                </c:pt>
                <c:pt idx="6">
                  <c:v>20:00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55</c:v>
                </c:pt>
                <c:pt idx="1">
                  <c:v>52</c:v>
                </c:pt>
                <c:pt idx="2">
                  <c:v>48</c:v>
                </c:pt>
                <c:pt idx="3">
                  <c:v>45</c:v>
                </c:pt>
                <c:pt idx="4">
                  <c:v>47</c:v>
                </c:pt>
                <c:pt idx="5">
                  <c:v>50</c:v>
                </c:pt>
                <c:pt idx="6">
                  <c:v>53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E62A-4879-8854-5686B95261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15"/>
        </c:scaling>
        <c:delete val="0"/>
        <c:axPos val="l"/>
        <c:majorGridlines>
          <c:spPr>
            <a:ln w="6350" cap="flat">
              <a:solidFill>
                <a:srgbClr val="F1F5F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2919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7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5.png"/><Relationship Id="rId4" Type="http://schemas.openxmlformats.org/officeDocument/2006/relationships/image" Target="../media/image24.png"/><Relationship Id="rId9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33.png"/><Relationship Id="rId10" Type="http://schemas.openxmlformats.org/officeDocument/2006/relationships/image" Target="../media/image36.png"/><Relationship Id="rId4" Type="http://schemas.openxmlformats.org/officeDocument/2006/relationships/image" Target="../media/image32.png"/><Relationship Id="rId9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380951-B616-0048-15C4-D1B403A2D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943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38328"/>
            <a:ext cx="109728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9260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: GASPILLAGE ET MANQUE DE SUIVI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80467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804672"/>
            <a:ext cx="25298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  <a:effectLst>
            <a:outerShdw blurRad="762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429512" y="1060704"/>
            <a:ext cx="768096" cy="768096"/>
          </a:xfrm>
          <a:prstGeom prst="ellipse">
            <a:avLst/>
          </a:prstGeom>
          <a:solidFill>
            <a:srgbClr val="F0FDF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680" y="126187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1993392"/>
            <a:ext cx="2346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Gaspillage Énergétique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2395728"/>
            <a:ext cx="2255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Lumières et climatisation actives en l'absence d'occupants, générant des coûts inutiles.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07080" y="804672"/>
            <a:ext cx="25298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  <a:effectLst>
            <a:outerShdw blurRad="762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187952" y="1060704"/>
            <a:ext cx="768096" cy="768096"/>
          </a:xfrm>
          <a:prstGeom prst="ellipse">
            <a:avLst/>
          </a:prstGeom>
          <a:solidFill>
            <a:srgbClr val="F0FDF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261872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98520" y="1993392"/>
            <a:ext cx="2346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d'Alertes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444240" y="2395728"/>
            <a:ext cx="2255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détection temps réel des conditions critiques (chaleur excessive ou humidité).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65520" y="804672"/>
            <a:ext cx="25298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  <a:effectLst>
            <a:outerShdw blurRad="762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946392" y="1060704"/>
            <a:ext cx="768096" cy="768096"/>
          </a:xfrm>
          <a:prstGeom prst="ellipse">
            <a:avLst/>
          </a:prstGeom>
          <a:solidFill>
            <a:srgbClr val="F0FDF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7560" y="1261872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56960" y="1993392"/>
            <a:ext cx="2346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Traçabilité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202680" y="2395728"/>
            <a:ext cx="2255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Manque d'historisation des données environnementales pour l'analyse et l'audit.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48640" y="3511296"/>
            <a:ext cx="8046720" cy="8961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3785616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70432" y="3547872"/>
            <a:ext cx="73334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concevoir un système IoT autonome capable de surveiller, d'automatiser et d'historiser intelligemment une pièce en temps réel 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38328"/>
            <a:ext cx="109728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9260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: UN ÉCOSYSTÈME IOT RÉACTIF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80467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749808"/>
            <a:ext cx="466709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749808"/>
            <a:ext cx="64008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795528"/>
            <a:ext cx="441106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système IoT complet qui surveille, automatise et journalise intelligemment une pièce en temps réel.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1517904"/>
            <a:ext cx="1494739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1609344"/>
            <a:ext cx="310896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645920"/>
            <a:ext cx="237744" cy="2377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1993392"/>
            <a:ext cx="13301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PRÉSENCE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40080" y="2194560"/>
            <a:ext cx="13484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passive infrarouge via HC-SR501.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116531" y="1517904"/>
            <a:ext cx="1494739" cy="11338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207971" y="1609344"/>
            <a:ext cx="310896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4547" y="1645920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207971" y="1993392"/>
            <a:ext cx="13301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207971" y="2194560"/>
            <a:ext cx="13484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T° et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Humidité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haute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(DHT22).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3684422" y="1517904"/>
            <a:ext cx="1494739" cy="114511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3775862" y="1609344"/>
            <a:ext cx="310896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2438" y="1645920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775862" y="1993392"/>
            <a:ext cx="13301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LUMINOSITÉ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3775862" y="2194560"/>
            <a:ext cx="13484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ambiante (LDR) pour éclairage intelligent.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548640" y="2688336"/>
            <a:ext cx="1494739" cy="114511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40080" y="2779776"/>
            <a:ext cx="310896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" y="2816352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40080" y="3163824"/>
            <a:ext cx="13301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" y="3364992"/>
            <a:ext cx="13484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de 5 règles événementielles personnalisables.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2116531" y="2688336"/>
            <a:ext cx="1494739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2207971" y="2779776"/>
            <a:ext cx="310896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4547" y="2816352"/>
            <a:ext cx="237744" cy="23774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2207971" y="3163824"/>
            <a:ext cx="13301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LOGGING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2207971" y="3364992"/>
            <a:ext cx="13484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Historisation temps réel sur Firebase Database.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3684422" y="2688336"/>
            <a:ext cx="1494739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7"/>
          <p:cNvSpPr/>
          <p:nvPr/>
        </p:nvSpPr>
        <p:spPr>
          <a:xfrm>
            <a:off x="3775862" y="2779776"/>
            <a:ext cx="310896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2438" y="2816352"/>
            <a:ext cx="237744" cy="23774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3775862" y="3163824"/>
            <a:ext cx="13301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3775862" y="3364992"/>
            <a:ext cx="13484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 réactive pour pilotage à distance.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5629046" y="4133088"/>
            <a:ext cx="287487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BF9A5670-6425-71FA-F09B-60981B8449D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90032" y="691219"/>
            <a:ext cx="2874874" cy="4032504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28F99369-F9FA-E6E5-4BBC-036532F21424}"/>
              </a:ext>
            </a:extLst>
          </p:cNvPr>
          <p:cNvSpPr txBox="1"/>
          <p:nvPr/>
        </p:nvSpPr>
        <p:spPr>
          <a:xfrm>
            <a:off x="4023360" y="4694058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conceptuelle</a:t>
            </a:r>
            <a:endParaRPr lang="en-US" sz="1200" dirty="0"/>
          </a:p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l'écosystème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connecté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38328"/>
            <a:ext cx="109728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9260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CHAÎNE DE VALEUR IOT DU PROJET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80467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777240"/>
            <a:ext cx="1536192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777240"/>
            <a:ext cx="54864" cy="342900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8368" y="905256"/>
            <a:ext cx="329184" cy="329184"/>
          </a:xfrm>
          <a:prstGeom prst="ellipse">
            <a:avLst/>
          </a:prstGeom>
          <a:solidFill>
            <a:srgbClr val="ECF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969264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42416" y="905256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042416" y="1078992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143560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des grandeurs physiques de l'environnement.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40080" y="191109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DHT22 — temp. &amp; humidité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40080" y="238658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PIR HC-SR501 — présence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40080" y="28620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LDR — luminosité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40080" y="3886200"/>
            <a:ext cx="1353312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0080" y="3877056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 · PIR · LDR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176272" y="777240"/>
            <a:ext cx="1536192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2176272" y="777240"/>
            <a:ext cx="54864" cy="3429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2286000" y="905256"/>
            <a:ext cx="329184" cy="329184"/>
          </a:xfrm>
          <a:prstGeom prst="ellipse">
            <a:avLst/>
          </a:prstGeom>
          <a:solidFill>
            <a:srgbClr val="EFF6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0008" y="969264"/>
            <a:ext cx="201168" cy="20116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670048" y="905256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2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2670048" y="1078992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2267712" y="143560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local, agrégation et transmission vers le cloud.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2267712" y="191109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Polling capteurs / 5 s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2267712" y="238658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Filtrage &amp; sérialisation JSON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2267712" y="28620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Edge computing (règles critiques)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2267712" y="3886200"/>
            <a:ext cx="1353312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2267712" y="3877056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· MicroPython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3803904" y="777240"/>
            <a:ext cx="1536192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3803904" y="777240"/>
            <a:ext cx="54864" cy="34290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3913632" y="905256"/>
            <a:ext cx="329184" cy="329184"/>
          </a:xfrm>
          <a:prstGeom prst="ellipse">
            <a:avLst/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640" y="969264"/>
            <a:ext cx="201168" cy="20116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4297680" y="905256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3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4297680" y="1078992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3895344" y="143560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sécurisé des données vers le cloud.</a:t>
            </a:r>
            <a:endParaRPr lang="en-US" sz="950" dirty="0"/>
          </a:p>
        </p:txBody>
      </p:sp>
      <p:sp>
        <p:nvSpPr>
          <p:cNvPr id="36" name="Text 31"/>
          <p:cNvSpPr/>
          <p:nvPr/>
        </p:nvSpPr>
        <p:spPr>
          <a:xfrm>
            <a:off x="3895344" y="191109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Wi-Fi 802.11 intégré ESP32</a:t>
            </a:r>
            <a:endParaRPr lang="en-US" sz="950" dirty="0"/>
          </a:p>
        </p:txBody>
      </p:sp>
      <p:sp>
        <p:nvSpPr>
          <p:cNvPr id="37" name="Text 32"/>
          <p:cNvSpPr/>
          <p:nvPr/>
        </p:nvSpPr>
        <p:spPr>
          <a:xfrm>
            <a:off x="3895344" y="238658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HTTPS / TLS 1.2+</a:t>
            </a:r>
            <a:endParaRPr lang="en-US" sz="950" dirty="0"/>
          </a:p>
        </p:txBody>
      </p:sp>
      <p:sp>
        <p:nvSpPr>
          <p:cNvPr id="38" name="Text 33"/>
          <p:cNvSpPr/>
          <p:nvPr/>
        </p:nvSpPr>
        <p:spPr>
          <a:xfrm>
            <a:off x="3895344" y="28620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Firebase REST API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3895344" y="3886200"/>
            <a:ext cx="1353312" cy="219456"/>
          </a:xfrm>
          <a:prstGeom prst="rect">
            <a:avLst/>
          </a:prstGeom>
          <a:solidFill>
            <a:srgbClr val="FEF3C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5"/>
          <p:cNvSpPr/>
          <p:nvPr/>
        </p:nvSpPr>
        <p:spPr>
          <a:xfrm>
            <a:off x="3895344" y="3877056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· HTTPS</a:t>
            </a:r>
            <a:endParaRPr lang="en-US" sz="800" dirty="0"/>
          </a:p>
        </p:txBody>
      </p:sp>
      <p:sp>
        <p:nvSpPr>
          <p:cNvPr id="41" name="Shape 36"/>
          <p:cNvSpPr/>
          <p:nvPr/>
        </p:nvSpPr>
        <p:spPr>
          <a:xfrm>
            <a:off x="5431536" y="777240"/>
            <a:ext cx="1536192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37"/>
          <p:cNvSpPr/>
          <p:nvPr/>
        </p:nvSpPr>
        <p:spPr>
          <a:xfrm>
            <a:off x="5431536" y="777240"/>
            <a:ext cx="54864" cy="3429000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8"/>
          <p:cNvSpPr/>
          <p:nvPr/>
        </p:nvSpPr>
        <p:spPr>
          <a:xfrm>
            <a:off x="5541264" y="905256"/>
            <a:ext cx="329184" cy="329184"/>
          </a:xfrm>
          <a:prstGeom prst="ellipse">
            <a:avLst/>
          </a:prstGeom>
          <a:solidFill>
            <a:srgbClr val="F5F3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5272" y="969264"/>
            <a:ext cx="201168" cy="201168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5925312" y="905256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4</a:t>
            </a:r>
            <a:endParaRPr lang="en-US" sz="850" dirty="0"/>
          </a:p>
        </p:txBody>
      </p:sp>
      <p:sp>
        <p:nvSpPr>
          <p:cNvPr id="46" name="Text 40"/>
          <p:cNvSpPr/>
          <p:nvPr/>
        </p:nvSpPr>
        <p:spPr>
          <a:xfrm>
            <a:off x="5925312" y="1078992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300" dirty="0"/>
          </a:p>
        </p:txBody>
      </p:sp>
      <p:sp>
        <p:nvSpPr>
          <p:cNvPr id="47" name="Text 41"/>
          <p:cNvSpPr/>
          <p:nvPr/>
        </p:nvSpPr>
        <p:spPr>
          <a:xfrm>
            <a:off x="5522976" y="143560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temps réel et moteur de règles serverless.</a:t>
            </a:r>
            <a:endParaRPr lang="en-US" sz="950" dirty="0"/>
          </a:p>
        </p:txBody>
      </p:sp>
      <p:sp>
        <p:nvSpPr>
          <p:cNvPr id="48" name="Text 42"/>
          <p:cNvSpPr/>
          <p:nvPr/>
        </p:nvSpPr>
        <p:spPr>
          <a:xfrm>
            <a:off x="5522976" y="191109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Realtime Database</a:t>
            </a:r>
            <a:endParaRPr lang="en-US" sz="950" dirty="0"/>
          </a:p>
        </p:txBody>
      </p:sp>
      <p:sp>
        <p:nvSpPr>
          <p:cNvPr id="49" name="Text 43"/>
          <p:cNvSpPr/>
          <p:nvPr/>
        </p:nvSpPr>
        <p:spPr>
          <a:xfrm>
            <a:off x="5522976" y="238658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 Functions (triggers)</a:t>
            </a:r>
            <a:endParaRPr lang="en-US" sz="950" dirty="0"/>
          </a:p>
        </p:txBody>
      </p:sp>
      <p:sp>
        <p:nvSpPr>
          <p:cNvPr id="50" name="Text 44"/>
          <p:cNvSpPr/>
          <p:nvPr/>
        </p:nvSpPr>
        <p:spPr>
          <a:xfrm>
            <a:off x="5522976" y="28620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Logs horodatés</a:t>
            </a:r>
            <a:endParaRPr lang="en-US" sz="950" dirty="0"/>
          </a:p>
        </p:txBody>
      </p:sp>
      <p:sp>
        <p:nvSpPr>
          <p:cNvPr id="51" name="Shape 45"/>
          <p:cNvSpPr/>
          <p:nvPr/>
        </p:nvSpPr>
        <p:spPr>
          <a:xfrm>
            <a:off x="5522976" y="3886200"/>
            <a:ext cx="1353312" cy="219456"/>
          </a:xfrm>
          <a:prstGeom prst="rect">
            <a:avLst/>
          </a:prstGeom>
          <a:solidFill>
            <a:srgbClr val="EDE9F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6"/>
          <p:cNvSpPr/>
          <p:nvPr/>
        </p:nvSpPr>
        <p:spPr>
          <a:xfrm>
            <a:off x="5522976" y="3877056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800" dirty="0"/>
          </a:p>
        </p:txBody>
      </p:sp>
      <p:sp>
        <p:nvSpPr>
          <p:cNvPr id="53" name="Shape 47"/>
          <p:cNvSpPr/>
          <p:nvPr/>
        </p:nvSpPr>
        <p:spPr>
          <a:xfrm>
            <a:off x="7059168" y="777240"/>
            <a:ext cx="1536192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48"/>
          <p:cNvSpPr/>
          <p:nvPr/>
        </p:nvSpPr>
        <p:spPr>
          <a:xfrm>
            <a:off x="7059168" y="777240"/>
            <a:ext cx="54864" cy="3429000"/>
          </a:xfrm>
          <a:prstGeom prst="rect">
            <a:avLst/>
          </a:prstGeom>
          <a:solidFill>
            <a:srgbClr val="EC489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49"/>
          <p:cNvSpPr/>
          <p:nvPr/>
        </p:nvSpPr>
        <p:spPr>
          <a:xfrm>
            <a:off x="7168896" y="905256"/>
            <a:ext cx="329184" cy="329184"/>
          </a:xfrm>
          <a:prstGeom prst="ellipse">
            <a:avLst/>
          </a:prstGeom>
          <a:solidFill>
            <a:srgbClr val="FDF2F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2904" y="969264"/>
            <a:ext cx="201168" cy="201168"/>
          </a:xfrm>
          <a:prstGeom prst="rect">
            <a:avLst/>
          </a:prstGeom>
        </p:spPr>
      </p:pic>
      <p:sp>
        <p:nvSpPr>
          <p:cNvPr id="57" name="Text 50"/>
          <p:cNvSpPr/>
          <p:nvPr/>
        </p:nvSpPr>
        <p:spPr>
          <a:xfrm>
            <a:off x="7552944" y="905256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5</a:t>
            </a:r>
            <a:endParaRPr lang="en-US" sz="850" dirty="0"/>
          </a:p>
        </p:txBody>
      </p:sp>
      <p:sp>
        <p:nvSpPr>
          <p:cNvPr id="58" name="Text 51"/>
          <p:cNvSpPr/>
          <p:nvPr/>
        </p:nvSpPr>
        <p:spPr>
          <a:xfrm>
            <a:off x="7552944" y="1078992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59" name="Text 52"/>
          <p:cNvSpPr/>
          <p:nvPr/>
        </p:nvSpPr>
        <p:spPr>
          <a:xfrm>
            <a:off x="7150608" y="143560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et pilotage en temps réel depuis le navigateur.</a:t>
            </a:r>
            <a:endParaRPr lang="en-US" sz="950" dirty="0"/>
          </a:p>
        </p:txBody>
      </p:sp>
      <p:sp>
        <p:nvSpPr>
          <p:cNvPr id="60" name="Text 53"/>
          <p:cNvSpPr/>
          <p:nvPr/>
        </p:nvSpPr>
        <p:spPr>
          <a:xfrm>
            <a:off x="7150608" y="191109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Monitoring temps réel</a:t>
            </a:r>
            <a:endParaRPr lang="en-US" sz="950" dirty="0"/>
          </a:p>
        </p:txBody>
      </p:sp>
      <p:sp>
        <p:nvSpPr>
          <p:cNvPr id="61" name="Text 54"/>
          <p:cNvSpPr/>
          <p:nvPr/>
        </p:nvSpPr>
        <p:spPr>
          <a:xfrm>
            <a:off x="7150608" y="238658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Historique &amp; graphiques</a:t>
            </a:r>
            <a:endParaRPr lang="en-US" sz="950" dirty="0"/>
          </a:p>
        </p:txBody>
      </p:sp>
      <p:sp>
        <p:nvSpPr>
          <p:cNvPr id="62" name="Text 55"/>
          <p:cNvSpPr/>
          <p:nvPr/>
        </p:nvSpPr>
        <p:spPr>
          <a:xfrm>
            <a:off x="7150608" y="28620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Alertes &amp; config. règles</a:t>
            </a:r>
            <a:endParaRPr lang="en-US" sz="950" dirty="0"/>
          </a:p>
        </p:txBody>
      </p:sp>
      <p:sp>
        <p:nvSpPr>
          <p:cNvPr id="63" name="Shape 56"/>
          <p:cNvSpPr/>
          <p:nvPr/>
        </p:nvSpPr>
        <p:spPr>
          <a:xfrm>
            <a:off x="7150608" y="3886200"/>
            <a:ext cx="1353312" cy="219456"/>
          </a:xfrm>
          <a:prstGeom prst="rect">
            <a:avLst/>
          </a:prstGeom>
          <a:solidFill>
            <a:srgbClr val="FDF2F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57"/>
          <p:cNvSpPr/>
          <p:nvPr/>
        </p:nvSpPr>
        <p:spPr>
          <a:xfrm>
            <a:off x="7150608" y="3877056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HTML/JS · Chart.js</a:t>
            </a:r>
            <a:endParaRPr lang="en-US" sz="800" dirty="0"/>
          </a:p>
        </p:txBody>
      </p:sp>
      <p:sp>
        <p:nvSpPr>
          <p:cNvPr id="65" name="Shape 58"/>
          <p:cNvSpPr/>
          <p:nvPr/>
        </p:nvSpPr>
        <p:spPr>
          <a:xfrm>
            <a:off x="548640" y="4315968"/>
            <a:ext cx="804672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59"/>
          <p:cNvSpPr/>
          <p:nvPr/>
        </p:nvSpPr>
        <p:spPr>
          <a:xfrm>
            <a:off x="731520" y="43616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CAPTEURS</a:t>
            </a:r>
            <a:endParaRPr lang="en-US" sz="950" dirty="0"/>
          </a:p>
        </p:txBody>
      </p:sp>
      <p:pic>
        <p:nvPicPr>
          <p:cNvPr id="6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48840" y="4425696"/>
            <a:ext cx="182880" cy="182880"/>
          </a:xfrm>
          <a:prstGeom prst="rect">
            <a:avLst/>
          </a:prstGeom>
        </p:spPr>
      </p:pic>
      <p:sp>
        <p:nvSpPr>
          <p:cNvPr id="68" name="Text 60"/>
          <p:cNvSpPr/>
          <p:nvPr/>
        </p:nvSpPr>
        <p:spPr>
          <a:xfrm>
            <a:off x="2340864" y="43616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GATEWAY</a:t>
            </a:r>
            <a:endParaRPr lang="en-US" sz="950" dirty="0"/>
          </a:p>
        </p:txBody>
      </p:sp>
      <p:pic>
        <p:nvPicPr>
          <p:cNvPr id="6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8184" y="4425696"/>
            <a:ext cx="182880" cy="182880"/>
          </a:xfrm>
          <a:prstGeom prst="rect">
            <a:avLst/>
          </a:prstGeom>
        </p:spPr>
      </p:pic>
      <p:sp>
        <p:nvSpPr>
          <p:cNvPr id="70" name="Text 61"/>
          <p:cNvSpPr/>
          <p:nvPr/>
        </p:nvSpPr>
        <p:spPr>
          <a:xfrm>
            <a:off x="3950208" y="43616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/ HTTPS</a:t>
            </a:r>
            <a:endParaRPr lang="en-US" sz="950" dirty="0"/>
          </a:p>
        </p:txBody>
      </p:sp>
      <p:pic>
        <p:nvPicPr>
          <p:cNvPr id="71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67528" y="4425696"/>
            <a:ext cx="182880" cy="182880"/>
          </a:xfrm>
          <a:prstGeom prst="rect">
            <a:avLst/>
          </a:prstGeom>
        </p:spPr>
      </p:pic>
      <p:sp>
        <p:nvSpPr>
          <p:cNvPr id="72" name="Text 62"/>
          <p:cNvSpPr/>
          <p:nvPr/>
        </p:nvSpPr>
        <p:spPr>
          <a:xfrm>
            <a:off x="5559552" y="43616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CLOUD</a:t>
            </a:r>
            <a:endParaRPr lang="en-US" sz="950" dirty="0"/>
          </a:p>
        </p:txBody>
      </p:sp>
      <p:pic>
        <p:nvPicPr>
          <p:cNvPr id="73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6872" y="4425696"/>
            <a:ext cx="182880" cy="182880"/>
          </a:xfrm>
          <a:prstGeom prst="rect">
            <a:avLst/>
          </a:prstGeom>
        </p:spPr>
      </p:pic>
      <p:sp>
        <p:nvSpPr>
          <p:cNvPr id="74" name="Text 63"/>
          <p:cNvSpPr/>
          <p:nvPr/>
        </p:nvSpPr>
        <p:spPr>
          <a:xfrm>
            <a:off x="7168896" y="43616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WEB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38328"/>
            <a:ext cx="109728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9260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MATÉRIELLE ET CAPTEURS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80467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2487168"/>
            <a:ext cx="367954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3172968"/>
            <a:ext cx="3862426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48640" y="3172968"/>
            <a:ext cx="64008" cy="141732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310128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3282696"/>
            <a:ext cx="32680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Cerveau du Système : ESP32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85800" y="3630168"/>
            <a:ext cx="364297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Dual-core 240 MHz &amp; 520 Ko SRAM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85800" y="3867912"/>
            <a:ext cx="364297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Connectivité Wi-Fi 802.11 b/g/n native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85800" y="4105656"/>
            <a:ext cx="364297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Consommation ultra-faible &lt; 250 mA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3504" y="4650252"/>
            <a:ext cx="3770986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r>
              <a:rPr lang="en-US" sz="1400" kern="0" spc="100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Investissement Total:  </a:t>
            </a: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11€ — 27€</a:t>
            </a:r>
            <a:endParaRPr lang="en-US" sz="1400" dirty="0"/>
          </a:p>
          <a:p>
            <a:endParaRPr lang="en-US" sz="1400" dirty="0">
              <a:latin typeface="Bookman Old Style" panose="02050604050505020204" pitchFamily="18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676656" y="4215384"/>
            <a:ext cx="21243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 rot="237501">
            <a:off x="2943344" y="4197096"/>
            <a:ext cx="13518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732934" y="749808"/>
            <a:ext cx="3862426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4870094" y="877824"/>
            <a:ext cx="25105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7635240" y="877824"/>
            <a:ext cx="822960" cy="237744"/>
          </a:xfrm>
          <a:prstGeom prst="rect">
            <a:avLst/>
          </a:prstGeom>
          <a:solidFill>
            <a:srgbClr val="ECF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7635240" y="87782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4870094" y="1225296"/>
            <a:ext cx="360639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haute précision de la température (±0.5°C) et de l'humidité. Idéal pour le confort thermique.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4732934" y="2029968"/>
            <a:ext cx="3862426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4870094" y="2157984"/>
            <a:ext cx="25105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 HC-SR501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7635240" y="2157984"/>
            <a:ext cx="822960" cy="237744"/>
          </a:xfrm>
          <a:prstGeom prst="rect">
            <a:avLst/>
          </a:prstGeom>
          <a:solidFill>
            <a:srgbClr val="ECF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7635240" y="215798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INFRAROUGE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4870094" y="2505456"/>
            <a:ext cx="360639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 présence humaine par rayonnement passif. Déclenche les scénarios d'économie d'énergie.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4732934" y="3310128"/>
            <a:ext cx="3862426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4870094" y="3438144"/>
            <a:ext cx="25105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LDR (Photorésistance)</a:t>
            </a:r>
            <a:endParaRPr lang="en-US" sz="1500" dirty="0"/>
          </a:p>
        </p:txBody>
      </p:sp>
      <p:sp>
        <p:nvSpPr>
          <p:cNvPr id="31" name="Shape 27"/>
          <p:cNvSpPr/>
          <p:nvPr/>
        </p:nvSpPr>
        <p:spPr>
          <a:xfrm>
            <a:off x="7635240" y="3438144"/>
            <a:ext cx="822960" cy="237744"/>
          </a:xfrm>
          <a:prstGeom prst="rect">
            <a:avLst/>
          </a:prstGeom>
          <a:solidFill>
            <a:srgbClr val="ECF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7635240" y="343814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ANALOGIQUE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4870094" y="3785616"/>
            <a:ext cx="360639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5000"/>
              </a:lnSpc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de la luminosité ambiante. Permet l'allumage intelligent des </a:t>
            </a:r>
            <a:r>
              <a:rPr lang="en-US" sz="12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éclairages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uniquement si nécessaire.</a:t>
            </a:r>
            <a:endParaRPr lang="en-US" sz="115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460F91C3-DE5E-58D0-DD76-4C496F831B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98" y="697582"/>
            <a:ext cx="3204921" cy="2359152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24CE997E-C178-1F9E-8537-65321C9822A1}"/>
              </a:ext>
            </a:extLst>
          </p:cNvPr>
          <p:cNvSpPr txBox="1"/>
          <p:nvPr/>
        </p:nvSpPr>
        <p:spPr>
          <a:xfrm>
            <a:off x="1094098" y="2925819"/>
            <a:ext cx="26332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Development Board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38328"/>
            <a:ext cx="109728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9260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CONNECTIVITÉ : POURQUOI LE WI-FI 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80467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648118"/>
              </p:ext>
            </p:extLst>
          </p:nvPr>
        </p:nvGraphicFramePr>
        <p:xfrm>
          <a:off x="548639" y="749808"/>
          <a:ext cx="4683760" cy="3108960"/>
        </p:xfrm>
        <a:graphic>
          <a:graphicData uri="http://schemas.openxmlformats.org/drawingml/2006/table">
            <a:tbl>
              <a:tblPr/>
              <a:tblGrid>
                <a:gridCol w="1405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25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04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30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25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</a:rPr>
                        <a:t>Technologie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</a:rPr>
                        <a:t>Portée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</a:rPr>
                        <a:t>Débit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</a:rPr>
                        <a:t>Énergie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</a:rPr>
                        <a:t>Usage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</a:rPr>
                        <a:t>Wi-Fi (802.11) ✓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</a:rPr>
                        <a:t>~300 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</a:rPr>
                        <a:t>11-1000 Mb/s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</a:rPr>
                        <a:t>Moyen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</a:rPr>
                        <a:t>IoT </a:t>
                      </a:r>
                      <a:r>
                        <a:rPr lang="en-US" sz="1100" b="1" dirty="0" err="1">
                          <a:solidFill>
                            <a:srgbClr val="059669"/>
                          </a:solidFill>
                        </a:rPr>
                        <a:t>Intérieur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LoRaWAN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2-15 km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0.3-5 kb/s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Très faible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Rural / Distant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Bluetooth / BLE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~10 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 Mb/s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Très faible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Wearables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ZigBee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~100 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250 kb/s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Faible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Domotique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SigFox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3-50 km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100 b/s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Très faible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Basse fréq.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376672" y="749808"/>
            <a:ext cx="3218688" cy="975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4"/>
          <p:cNvSpPr/>
          <p:nvPr/>
        </p:nvSpPr>
        <p:spPr>
          <a:xfrm>
            <a:off x="5376672" y="749808"/>
            <a:ext cx="64008" cy="97536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1264" y="896112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88736" y="87782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Native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504688" y="1207008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Supporté nativement par l'ESP32. Zéro composant supplémentaire et coût matériel optimisé.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376672" y="1816608"/>
            <a:ext cx="3218688" cy="975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5376672" y="1816608"/>
            <a:ext cx="64008" cy="97536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1264" y="196291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888736" y="194462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Cloud Direct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5504688" y="2273808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directe à Firebase sans passer par une gateway intermédiaire complexe ou coûteuse.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376672" y="2883408"/>
            <a:ext cx="3218688" cy="975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5376672" y="2883408"/>
            <a:ext cx="64008" cy="97536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1264" y="3029712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888736" y="301142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 Réactivité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504688" y="3340608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 ultra-faible (&lt; 10 ms) garantissant le déclenchement des règles en temps réel.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48640" y="3995928"/>
            <a:ext cx="804672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713232" y="4041648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 Applicatif : HTTPS + Firebase REST API</a:t>
            </a:r>
            <a:endParaRPr lang="en-US" sz="11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0" y="4087368"/>
            <a:ext cx="201168" cy="2011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635240" y="40599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TLS 1.2+ Chiffrée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38328"/>
            <a:ext cx="109728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9260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CLOUD ET SÉCURITÉ DES DONNÉES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80467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749808"/>
            <a:ext cx="3886200" cy="196824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9144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896112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Realtime DB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13232" y="129844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Synchronisation WebSocket temps réel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13232" y="157276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Stockage NoSQL optimisé (JSON)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13232" y="184708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Latence minimale pour le Dashboard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827782"/>
            <a:ext cx="3886200" cy="196824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99237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78992" y="2974086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Functions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13232" y="337642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Moteur de règles serverless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13232" y="365074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Déclenchement sur chaque écriture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13232" y="392506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Logging horodaté et persistant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709160" y="749807"/>
            <a:ext cx="3886200" cy="2017395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  <a:effectLst>
            <a:outerShdw blurRad="762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996696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12080" y="97840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des Échanges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873752" y="1252728"/>
            <a:ext cx="36301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Communications chiffrées via HTTPS/TLS 1.2+ garantissant l'intégrité des données ESP32.</a:t>
            </a:r>
            <a:endParaRPr lang="en-US" sz="11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1980819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212080" y="1962531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Granulaire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873752" y="2236851"/>
            <a:ext cx="36301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par Firebase Security Rules pour restreindre les écritures aux nœuds autorisés.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709160" y="2827782"/>
            <a:ext cx="3886200" cy="196824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3752" y="2974086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221224" y="2955798"/>
            <a:ext cx="3282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des Données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4837176" y="3339846"/>
            <a:ext cx="3630168" cy="1335024"/>
          </a:xfrm>
          <a:prstGeom prst="rect">
            <a:avLst/>
          </a:prstGeom>
          <a:solidFill>
            <a:srgbClr val="F1F5F9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1"/>
          <p:cNvSpPr/>
          <p:nvPr/>
        </p:nvSpPr>
        <p:spPr>
          <a:xfrm>
            <a:off x="4910328" y="3412998"/>
            <a:ext cx="3483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4910328" y="3669030"/>
            <a:ext cx="3483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"sensors"</a:t>
            </a:r>
            <a:r>
              <a:rPr lang="en-US" sz="10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temp, hum, lux },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4910328" y="3925062"/>
            <a:ext cx="3483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"rules"</a:t>
            </a:r>
            <a:r>
              <a:rPr lang="en-US" sz="10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condition, action, status },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4910328" y="4181094"/>
            <a:ext cx="3483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"history"</a:t>
            </a:r>
            <a:r>
              <a:rPr lang="en-US" sz="10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timestamp: data }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4910328" y="4437126"/>
            <a:ext cx="3483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38328"/>
            <a:ext cx="109728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9260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EMBARQUÉE : LE MOTEUR DE RÈGLES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80467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749808"/>
            <a:ext cx="8046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749808"/>
            <a:ext cx="64008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8229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: Edge Computing (ESP32)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0424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Réactivité critique &lt; 100ms, sans latence réseau.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18288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8229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: Cloud Logic (Firebase)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0" y="10424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Persistance, logging et notifications dashboard.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1536192"/>
            <a:ext cx="1536192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  <a:effectLst>
            <a:outerShdw blurRad="762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58368" y="1664208"/>
            <a:ext cx="310896" cy="21945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" y="166420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0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784" y="1664208"/>
            <a:ext cx="256032" cy="256032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58368" y="2029968"/>
            <a:ext cx="1316736" cy="219456"/>
          </a:xfrm>
          <a:prstGeom prst="rect">
            <a:avLst/>
          </a:prstGeom>
          <a:solidFill>
            <a:srgbClr val="FFEDD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58368" y="202996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40080" y="2322576"/>
            <a:ext cx="1353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prolongée (10 min)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40080" y="3072384"/>
            <a:ext cx="1353312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40080" y="3145536"/>
            <a:ext cx="1353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Extinction auto de l'éclairage : </a:t>
            </a:r>
            <a:r>
              <a:rPr lang="en-US" sz="105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OFF.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21" name="Shape 18"/>
          <p:cNvSpPr/>
          <p:nvPr/>
        </p:nvSpPr>
        <p:spPr>
          <a:xfrm>
            <a:off x="2176272" y="1536192"/>
            <a:ext cx="1536192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  <a:effectLst>
            <a:outerShdw blurRad="762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2286000" y="1664208"/>
            <a:ext cx="310896" cy="21945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2286000" y="166420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0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8416" y="1664208"/>
            <a:ext cx="256032" cy="256032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2286000" y="2029968"/>
            <a:ext cx="1316736" cy="219456"/>
          </a:xfrm>
          <a:prstGeom prst="rect">
            <a:avLst/>
          </a:prstGeom>
          <a:solidFill>
            <a:srgbClr val="FEE2E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2286000" y="202996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2267712" y="2322576"/>
            <a:ext cx="1353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Chaleur excessive (&gt; 30°C)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2267712" y="3072384"/>
            <a:ext cx="1353312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2267712" y="3145536"/>
            <a:ext cx="1353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sonore immédiate : </a:t>
            </a:r>
            <a:r>
              <a:rPr lang="en-US" sz="105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ON.</a:t>
            </a:r>
            <a:endParaRPr lang="en-US" sz="1050" dirty="0">
              <a:solidFill>
                <a:srgbClr val="00B050"/>
              </a:solidFill>
            </a:endParaRPr>
          </a:p>
        </p:txBody>
      </p:sp>
      <p:sp>
        <p:nvSpPr>
          <p:cNvPr id="30" name="Shape 26"/>
          <p:cNvSpPr/>
          <p:nvPr/>
        </p:nvSpPr>
        <p:spPr>
          <a:xfrm>
            <a:off x="3803904" y="1536192"/>
            <a:ext cx="1536192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  <a:effectLst>
            <a:outerShdw blurRad="762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3913632" y="1664208"/>
            <a:ext cx="310896" cy="21945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3913632" y="166420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000" dirty="0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1664208"/>
            <a:ext cx="256032" cy="256032"/>
          </a:xfrm>
          <a:prstGeom prst="rect">
            <a:avLst/>
          </a:prstGeom>
        </p:spPr>
      </p:pic>
      <p:sp>
        <p:nvSpPr>
          <p:cNvPr id="34" name="Shape 29"/>
          <p:cNvSpPr/>
          <p:nvPr/>
        </p:nvSpPr>
        <p:spPr>
          <a:xfrm>
            <a:off x="3913632" y="2029968"/>
            <a:ext cx="1316736" cy="219456"/>
          </a:xfrm>
          <a:prstGeom prst="rect">
            <a:avLst/>
          </a:prstGeom>
          <a:solidFill>
            <a:srgbClr val="ECF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/>
          <p:nvPr/>
        </p:nvSpPr>
        <p:spPr>
          <a:xfrm>
            <a:off x="3913632" y="202996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NORMALE</a:t>
            </a:r>
            <a:endParaRPr lang="en-US" sz="850" dirty="0"/>
          </a:p>
        </p:txBody>
      </p:sp>
      <p:sp>
        <p:nvSpPr>
          <p:cNvPr id="36" name="Text 31"/>
          <p:cNvSpPr/>
          <p:nvPr/>
        </p:nvSpPr>
        <p:spPr>
          <a:xfrm>
            <a:off x="3895344" y="2322576"/>
            <a:ext cx="1353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Présence + Faible luminosité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3895344" y="3072384"/>
            <a:ext cx="1353312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/>
          <p:nvPr/>
        </p:nvSpPr>
        <p:spPr>
          <a:xfrm>
            <a:off x="3895344" y="3145536"/>
            <a:ext cx="1353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Allumage intelligent : </a:t>
            </a:r>
            <a:r>
              <a:rPr lang="en-US" sz="105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ON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39" name="Shape 34"/>
          <p:cNvSpPr/>
          <p:nvPr/>
        </p:nvSpPr>
        <p:spPr>
          <a:xfrm>
            <a:off x="5431536" y="1536192"/>
            <a:ext cx="1536192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  <a:effectLst>
            <a:outerShdw blurRad="762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5"/>
          <p:cNvSpPr/>
          <p:nvPr/>
        </p:nvSpPr>
        <p:spPr>
          <a:xfrm>
            <a:off x="5541264" y="1664208"/>
            <a:ext cx="310896" cy="21945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6"/>
          <p:cNvSpPr/>
          <p:nvPr/>
        </p:nvSpPr>
        <p:spPr>
          <a:xfrm>
            <a:off x="5541264" y="166420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000" dirty="0"/>
          </a:p>
        </p:txBody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1664208"/>
            <a:ext cx="256032" cy="256032"/>
          </a:xfrm>
          <a:prstGeom prst="rect">
            <a:avLst/>
          </a:prstGeom>
        </p:spPr>
      </p:pic>
      <p:sp>
        <p:nvSpPr>
          <p:cNvPr id="43" name="Shape 37"/>
          <p:cNvSpPr/>
          <p:nvPr/>
        </p:nvSpPr>
        <p:spPr>
          <a:xfrm>
            <a:off x="5541264" y="2029968"/>
            <a:ext cx="1316736" cy="219456"/>
          </a:xfrm>
          <a:prstGeom prst="rect">
            <a:avLst/>
          </a:prstGeom>
          <a:solidFill>
            <a:srgbClr val="ECF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8"/>
          <p:cNvSpPr/>
          <p:nvPr/>
        </p:nvSpPr>
        <p:spPr>
          <a:xfrm>
            <a:off x="5541264" y="202996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NORMALE</a:t>
            </a:r>
            <a:endParaRPr lang="en-US" sz="850" dirty="0"/>
          </a:p>
        </p:txBody>
      </p:sp>
      <p:sp>
        <p:nvSpPr>
          <p:cNvPr id="45" name="Text 39"/>
          <p:cNvSpPr/>
          <p:nvPr/>
        </p:nvSpPr>
        <p:spPr>
          <a:xfrm>
            <a:off x="5522976" y="2322576"/>
            <a:ext cx="1353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 basse (&lt; 16°C)</a:t>
            </a:r>
            <a:endParaRPr lang="en-US" sz="1100" dirty="0"/>
          </a:p>
        </p:txBody>
      </p:sp>
      <p:sp>
        <p:nvSpPr>
          <p:cNvPr id="46" name="Shape 40"/>
          <p:cNvSpPr/>
          <p:nvPr/>
        </p:nvSpPr>
        <p:spPr>
          <a:xfrm>
            <a:off x="5522976" y="3072384"/>
            <a:ext cx="1353312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1"/>
          <p:cNvSpPr/>
          <p:nvPr/>
        </p:nvSpPr>
        <p:spPr>
          <a:xfrm>
            <a:off x="5522976" y="3145536"/>
            <a:ext cx="1353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confort : </a:t>
            </a:r>
            <a:r>
              <a:rPr lang="en-US" sz="105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Froid.</a:t>
            </a:r>
            <a:endParaRPr lang="en-US" sz="1050" dirty="0">
              <a:solidFill>
                <a:srgbClr val="00B0F0"/>
              </a:solidFill>
            </a:endParaRPr>
          </a:p>
        </p:txBody>
      </p:sp>
      <p:sp>
        <p:nvSpPr>
          <p:cNvPr id="48" name="Shape 42"/>
          <p:cNvSpPr/>
          <p:nvPr/>
        </p:nvSpPr>
        <p:spPr>
          <a:xfrm>
            <a:off x="7059168" y="1536192"/>
            <a:ext cx="1536192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  <a:effectLst>
            <a:outerShdw blurRad="762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3"/>
          <p:cNvSpPr/>
          <p:nvPr/>
        </p:nvSpPr>
        <p:spPr>
          <a:xfrm>
            <a:off x="7168896" y="1664208"/>
            <a:ext cx="310896" cy="21945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4"/>
          <p:cNvSpPr/>
          <p:nvPr/>
        </p:nvSpPr>
        <p:spPr>
          <a:xfrm>
            <a:off x="7168896" y="166420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000" dirty="0"/>
          </a:p>
        </p:txBody>
      </p:sp>
      <p:pic>
        <p:nvPicPr>
          <p:cNvPr id="5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1312" y="1664208"/>
            <a:ext cx="256032" cy="256032"/>
          </a:xfrm>
          <a:prstGeom prst="rect">
            <a:avLst/>
          </a:prstGeom>
        </p:spPr>
      </p:pic>
      <p:sp>
        <p:nvSpPr>
          <p:cNvPr id="52" name="Shape 45"/>
          <p:cNvSpPr/>
          <p:nvPr/>
        </p:nvSpPr>
        <p:spPr>
          <a:xfrm>
            <a:off x="7168896" y="2029968"/>
            <a:ext cx="1316736" cy="219456"/>
          </a:xfrm>
          <a:prstGeom prst="rect">
            <a:avLst/>
          </a:prstGeom>
          <a:solidFill>
            <a:srgbClr val="ECF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6"/>
          <p:cNvSpPr/>
          <p:nvPr/>
        </p:nvSpPr>
        <p:spPr>
          <a:xfrm>
            <a:off x="7168896" y="202996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NORMALE</a:t>
            </a:r>
            <a:endParaRPr lang="en-US" sz="850" dirty="0"/>
          </a:p>
        </p:txBody>
      </p:sp>
      <p:sp>
        <p:nvSpPr>
          <p:cNvPr id="54" name="Text 47"/>
          <p:cNvSpPr/>
          <p:nvPr/>
        </p:nvSpPr>
        <p:spPr>
          <a:xfrm>
            <a:off x="7150608" y="2322576"/>
            <a:ext cx="1353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Humidité critique (&gt; 85%)</a:t>
            </a:r>
            <a:endParaRPr lang="en-US" sz="1100" dirty="0"/>
          </a:p>
        </p:txBody>
      </p:sp>
      <p:sp>
        <p:nvSpPr>
          <p:cNvPr id="55" name="Shape 48"/>
          <p:cNvSpPr/>
          <p:nvPr/>
        </p:nvSpPr>
        <p:spPr>
          <a:xfrm>
            <a:off x="7150608" y="3072384"/>
            <a:ext cx="1353312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49"/>
          <p:cNvSpPr/>
          <p:nvPr/>
        </p:nvSpPr>
        <p:spPr>
          <a:xfrm>
            <a:off x="7150608" y="3145536"/>
            <a:ext cx="1353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Prévention moisissure : </a:t>
            </a:r>
            <a:r>
              <a:rPr lang="en-US" sz="105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&amp; Alerte.</a:t>
            </a:r>
            <a:endParaRPr lang="en-US" sz="1050" dirty="0">
              <a:solidFill>
                <a:schemeClr val="accent2"/>
              </a:solidFill>
            </a:endParaRPr>
          </a:p>
        </p:txBody>
      </p:sp>
      <p:sp>
        <p:nvSpPr>
          <p:cNvPr id="57" name="Shape 50"/>
          <p:cNvSpPr/>
          <p:nvPr/>
        </p:nvSpPr>
        <p:spPr>
          <a:xfrm>
            <a:off x="548640" y="4123944"/>
            <a:ext cx="80467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4197096"/>
            <a:ext cx="182880" cy="182880"/>
          </a:xfrm>
          <a:prstGeom prst="rect">
            <a:avLst/>
          </a:prstGeom>
        </p:spPr>
      </p:pic>
      <p:sp>
        <p:nvSpPr>
          <p:cNvPr id="59" name="Text 51"/>
          <p:cNvSpPr/>
          <p:nvPr/>
        </p:nvSpPr>
        <p:spPr>
          <a:xfrm>
            <a:off x="804672" y="4178808"/>
            <a:ext cx="5230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Data-Driven : Seuils modifiables via JSON Firebase sans reflasher.</a:t>
            </a:r>
            <a:endParaRPr lang="en-US" sz="1000" dirty="0"/>
          </a:p>
        </p:txBody>
      </p:sp>
      <p:sp>
        <p:nvSpPr>
          <p:cNvPr id="60" name="Text 52"/>
          <p:cNvSpPr/>
          <p:nvPr/>
        </p:nvSpPr>
        <p:spPr>
          <a:xfrm>
            <a:off x="6181344" y="4178808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Priorisation logicielle intégrée.</a:t>
            </a:r>
            <a:endParaRPr lang="en-US" sz="1000" dirty="0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7C9D9FE9-C2F4-A3FA-2889-5AEB3AF1C7C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35316" y="4206240"/>
            <a:ext cx="17792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38328"/>
            <a:ext cx="109728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9260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DE CONTRÔLE ET VISUALISATION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80467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749808"/>
            <a:ext cx="3057754" cy="11597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749808"/>
            <a:ext cx="64008" cy="1159764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93268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0704" y="896112"/>
            <a:ext cx="2472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Temps Réel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76656" y="1225296"/>
            <a:ext cx="285658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dynamique des données : Température, Humidité, Présence et Luminosité via WebSocket.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2001012"/>
            <a:ext cx="3057754" cy="11597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48640" y="2001012"/>
            <a:ext cx="64008" cy="1159764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183892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60704" y="2147316"/>
            <a:ext cx="2472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&amp; Analytics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76656" y="2476500"/>
            <a:ext cx="285658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de l'évolution temporelle des conditions environnementales stockées dans Firebase.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252216"/>
            <a:ext cx="3057754" cy="11597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48640" y="3252216"/>
            <a:ext cx="64008" cy="1159764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435096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60704" y="3398520"/>
            <a:ext cx="2472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Règles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76656" y="3727704"/>
            <a:ext cx="285658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agile des seuils d'alerte et activation des scénarios sans reflasher l'ESP32.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4539996"/>
            <a:ext cx="1078992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548640" y="4539996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HTML5/CSS3</a:t>
            </a:r>
            <a:endParaRPr lang="en-US" sz="750" dirty="0"/>
          </a:p>
        </p:txBody>
      </p:sp>
      <p:sp>
        <p:nvSpPr>
          <p:cNvPr id="22" name="Shape 17"/>
          <p:cNvSpPr/>
          <p:nvPr/>
        </p:nvSpPr>
        <p:spPr>
          <a:xfrm>
            <a:off x="1691640" y="4539996"/>
            <a:ext cx="1078992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1691640" y="4539996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JS SDK</a:t>
            </a:r>
            <a:endParaRPr lang="en-US" sz="750" dirty="0"/>
          </a:p>
        </p:txBody>
      </p:sp>
      <p:sp>
        <p:nvSpPr>
          <p:cNvPr id="24" name="Shape 19"/>
          <p:cNvSpPr/>
          <p:nvPr/>
        </p:nvSpPr>
        <p:spPr>
          <a:xfrm>
            <a:off x="2834640" y="4539996"/>
            <a:ext cx="1078992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2834640" y="4539996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/ ECHARTS</a:t>
            </a:r>
            <a:endParaRPr lang="en-US" sz="750" dirty="0"/>
          </a:p>
        </p:txBody>
      </p:sp>
      <p:sp>
        <p:nvSpPr>
          <p:cNvPr id="26" name="Shape 21"/>
          <p:cNvSpPr/>
          <p:nvPr/>
        </p:nvSpPr>
        <p:spPr>
          <a:xfrm>
            <a:off x="3977640" y="749808"/>
            <a:ext cx="4617720" cy="42108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4111142" y="896112"/>
            <a:ext cx="32954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Aperçu de l'Évolution (24h)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7424928" y="877824"/>
            <a:ext cx="1042416" cy="237744"/>
          </a:xfrm>
          <a:prstGeom prst="rect">
            <a:avLst/>
          </a:prstGeom>
          <a:solidFill>
            <a:srgbClr val="ECF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7424928" y="877824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SYNC EN DIRECT</a:t>
            </a:r>
            <a:endParaRPr lang="en-US" sz="800" dirty="0"/>
          </a:p>
        </p:txBody>
      </p:sp>
      <p:graphicFrame>
        <p:nvGraphicFramePr>
          <p:cNvPr id="30" name="Chart 0"/>
          <p:cNvGraphicFramePr/>
          <p:nvPr/>
        </p:nvGraphicFramePr>
        <p:xfrm>
          <a:off x="4019702" y="1225296"/>
          <a:ext cx="4484218" cy="36164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38328"/>
            <a:ext cx="109728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9260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ET VALIDATION DU SYSTÈME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80467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804672"/>
            <a:ext cx="24993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22832" y="1216152"/>
            <a:ext cx="950976" cy="950976"/>
          </a:xfrm>
          <a:prstGeom prst="ellipse">
            <a:avLst/>
          </a:prstGeom>
          <a:solidFill>
            <a:srgbClr val="ECF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720" y="14630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386584"/>
            <a:ext cx="231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Live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85800" y="2788920"/>
            <a:ext cx="222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instantanée des données capteurs vers Firebase via ESP32.</a:t>
            </a:r>
            <a:endParaRPr lang="en-US" sz="13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4576" y="2276856"/>
            <a:ext cx="256032" cy="256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340608" y="804672"/>
            <a:ext cx="24993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114800" y="1216152"/>
            <a:ext cx="950976" cy="950976"/>
          </a:xfrm>
          <a:prstGeom prst="ellipse">
            <a:avLst/>
          </a:prstGeom>
          <a:solidFill>
            <a:srgbClr val="ECF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1688" y="146304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32048" y="2386584"/>
            <a:ext cx="231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de Règles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3477768" y="2788920"/>
            <a:ext cx="222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Exécution automatique des scénarios R1-R5 dès réception du payload JSON.</a:t>
            </a:r>
            <a:endParaRPr lang="en-US" sz="13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544" y="2276856"/>
            <a:ext cx="256032" cy="25603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132576" y="804672"/>
            <a:ext cx="24993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6906768" y="1216152"/>
            <a:ext cx="950976" cy="950976"/>
          </a:xfrm>
          <a:prstGeom prst="ellipse">
            <a:avLst/>
          </a:prstGeom>
          <a:solidFill>
            <a:srgbClr val="ECF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3656" y="1463040"/>
            <a:ext cx="457200" cy="4572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224016" y="2386584"/>
            <a:ext cx="231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Réactif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6269736" y="2788920"/>
            <a:ext cx="222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visuelle en temps réel via WebSockets sans rafraîchissement.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2194560" y="4187952"/>
            <a:ext cx="475488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6"/>
          <p:cNvSpPr/>
          <p:nvPr/>
        </p:nvSpPr>
        <p:spPr>
          <a:xfrm>
            <a:off x="2468880" y="431596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7"/>
          <p:cNvSpPr/>
          <p:nvPr/>
        </p:nvSpPr>
        <p:spPr>
          <a:xfrm>
            <a:off x="2651760" y="422452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OPÉRATIONNEL — FLUX TEMPS RÉEL ACTIF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38328"/>
            <a:ext cx="109728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9260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ET PERSPECTIVES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80467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749808"/>
            <a:ext cx="3895344" cy="41925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91440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2416" y="896112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du Projet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76656" y="1280160"/>
            <a:ext cx="3639312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76656" y="1463040"/>
            <a:ext cx="329184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1527048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15568" y="14630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IoT Complète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1115568" y="1700784"/>
            <a:ext cx="3200400" cy="6294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fluide de bout en bout : Capteurs → ESP32 → Firebase Cloud → Dashboard Web interactif.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76656" y="2494788"/>
            <a:ext cx="329184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2558796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15568" y="249478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Hybride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1115568" y="2732532"/>
            <a:ext cx="3200400" cy="6294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de règles à deux niveaux (Edge et Cloud) garantissant réactivité locale et journalisation globale.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76656" y="3526536"/>
            <a:ext cx="329184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" y="3590544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15568" y="352653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Optimisée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1115568" y="3764280"/>
            <a:ext cx="3200400" cy="6294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sécurisé (HTTPS/TLS) et économique, réalisé pour un budget matériel inférieur à 27 €.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76656" y="4485132"/>
            <a:ext cx="3639312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676656" y="4539996"/>
            <a:ext cx="3639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"Une architecture robuste prête pour l'industrialisation."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700018" y="749808"/>
            <a:ext cx="3895344" cy="41925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914400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193792" y="896112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Évolutions Futures</a:t>
            </a:r>
            <a:endParaRPr lang="en-US" sz="1600" dirty="0"/>
          </a:p>
        </p:txBody>
      </p:sp>
      <p:sp>
        <p:nvSpPr>
          <p:cNvPr id="26" name="Shape 19"/>
          <p:cNvSpPr/>
          <p:nvPr/>
        </p:nvSpPr>
        <p:spPr>
          <a:xfrm>
            <a:off x="4828032" y="1280160"/>
            <a:ext cx="3639312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0"/>
          <p:cNvSpPr/>
          <p:nvPr/>
        </p:nvSpPr>
        <p:spPr>
          <a:xfrm>
            <a:off x="4828032" y="1463040"/>
            <a:ext cx="329184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1527048"/>
            <a:ext cx="201168" cy="20116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266944" y="14630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5266944" y="1700784"/>
            <a:ext cx="3200400" cy="7360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de TensorFlow Lite sur ESP32 pour l'analyse prédictive et la détection d'anomalies complexes.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5285233" y="2398014"/>
            <a:ext cx="822960" cy="2011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4"/>
          <p:cNvSpPr/>
          <p:nvPr/>
        </p:nvSpPr>
        <p:spPr>
          <a:xfrm>
            <a:off x="5266944" y="227228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b="1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850" b="1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</a:t>
            </a:r>
            <a:endParaRPr lang="en-US" sz="850" dirty="0"/>
          </a:p>
        </p:txBody>
      </p:sp>
      <p:sp>
        <p:nvSpPr>
          <p:cNvPr id="33" name="Shape 25"/>
          <p:cNvSpPr/>
          <p:nvPr/>
        </p:nvSpPr>
        <p:spPr>
          <a:xfrm>
            <a:off x="4828032" y="2601468"/>
            <a:ext cx="329184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2040" y="2665476"/>
            <a:ext cx="201168" cy="20116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5266944" y="260146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Multi-nœuds</a:t>
            </a:r>
            <a:endParaRPr lang="en-US" sz="1250" dirty="0"/>
          </a:p>
        </p:txBody>
      </p:sp>
      <p:sp>
        <p:nvSpPr>
          <p:cNvPr id="36" name="Text 27"/>
          <p:cNvSpPr/>
          <p:nvPr/>
        </p:nvSpPr>
        <p:spPr>
          <a:xfrm>
            <a:off x="5266944" y="2839212"/>
            <a:ext cx="3200400" cy="7360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plusieurs pièces via un maillage de nœuds connectés à un backend Firebase centralisé.</a:t>
            </a:r>
            <a:endParaRPr lang="en-US" sz="1050" dirty="0"/>
          </a:p>
        </p:txBody>
      </p:sp>
      <p:sp>
        <p:nvSpPr>
          <p:cNvPr id="37" name="Shape 28"/>
          <p:cNvSpPr/>
          <p:nvPr/>
        </p:nvSpPr>
        <p:spPr>
          <a:xfrm>
            <a:off x="5266944" y="3410712"/>
            <a:ext cx="822960" cy="2011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29"/>
          <p:cNvSpPr/>
          <p:nvPr/>
        </p:nvSpPr>
        <p:spPr>
          <a:xfrm>
            <a:off x="5266944" y="34107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Scalabilité</a:t>
            </a:r>
            <a:endParaRPr lang="en-US" sz="850" dirty="0"/>
          </a:p>
        </p:txBody>
      </p:sp>
      <p:sp>
        <p:nvSpPr>
          <p:cNvPr id="39" name="Shape 30"/>
          <p:cNvSpPr/>
          <p:nvPr/>
        </p:nvSpPr>
        <p:spPr>
          <a:xfrm>
            <a:off x="4828032" y="3739896"/>
            <a:ext cx="329184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92040" y="3803904"/>
            <a:ext cx="201168" cy="201168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5266944" y="373989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Vision IoT</a:t>
            </a:r>
            <a:endParaRPr lang="en-US" sz="1250" dirty="0"/>
          </a:p>
        </p:txBody>
      </p:sp>
      <p:sp>
        <p:nvSpPr>
          <p:cNvPr id="42" name="Text 32"/>
          <p:cNvSpPr/>
          <p:nvPr/>
        </p:nvSpPr>
        <p:spPr>
          <a:xfrm>
            <a:off x="5266944" y="3977640"/>
            <a:ext cx="3200400" cy="7360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de la caméra OV2640 pour la levée de doute visuelle et la détection de mouvement avancée.</a:t>
            </a:r>
            <a:endParaRPr lang="en-US" sz="1050" dirty="0"/>
          </a:p>
        </p:txBody>
      </p:sp>
      <p:sp>
        <p:nvSpPr>
          <p:cNvPr id="43" name="Shape 33"/>
          <p:cNvSpPr/>
          <p:nvPr/>
        </p:nvSpPr>
        <p:spPr>
          <a:xfrm>
            <a:off x="5266944" y="4549140"/>
            <a:ext cx="822960" cy="2011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4"/>
          <p:cNvSpPr/>
          <p:nvPr/>
        </p:nvSpPr>
        <p:spPr>
          <a:xfrm>
            <a:off x="5266944" y="45491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1076</Words>
  <Application>Microsoft Office PowerPoint</Application>
  <PresentationFormat>On-screen Show (16:9)</PresentationFormat>
  <Paragraphs>217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Bookman Old Style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Connected Smart Room</dc:title>
  <dc:subject>PptxGenJS Presentation</dc:subject>
  <dc:creator>PptxGenJS</dc:creator>
  <cp:lastModifiedBy>Moemen Super</cp:lastModifiedBy>
  <cp:revision>5</cp:revision>
  <dcterms:created xsi:type="dcterms:W3CDTF">2026-05-08T09:38:11Z</dcterms:created>
  <dcterms:modified xsi:type="dcterms:W3CDTF">2026-05-08T10:38:09Z</dcterms:modified>
</cp:coreProperties>
</file>